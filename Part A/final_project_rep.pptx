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CB"/>
    <a:srgbClr val="FFD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73821" autoAdjust="0"/>
  </p:normalViewPr>
  <p:slideViewPr>
    <p:cSldViewPr snapToGrid="0">
      <p:cViewPr varScale="1">
        <p:scale>
          <a:sx n="84" d="100"/>
          <a:sy n="84" d="100"/>
        </p:scale>
        <p:origin x="83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c97b0bdea4c3346b" providerId="LiveId" clId="{5C114944-6436-46B5-82DA-9048C7476598}"/>
    <pc:docChg chg="undo redo custSel modSld sldOrd">
      <pc:chgData name="" userId="c97b0bdea4c3346b" providerId="LiveId" clId="{5C114944-6436-46B5-82DA-9048C7476598}" dt="2025-07-13T18:43:36.473" v="949" actId="20577"/>
      <pc:docMkLst>
        <pc:docMk/>
      </pc:docMkLst>
      <pc:sldChg chg="modSp modNotesTx">
        <pc:chgData name="" userId="c97b0bdea4c3346b" providerId="LiveId" clId="{5C114944-6436-46B5-82DA-9048C7476598}" dt="2025-07-13T18:20:44.684" v="853" actId="113"/>
        <pc:sldMkLst>
          <pc:docMk/>
          <pc:sldMk cId="1890309261" sldId="257"/>
        </pc:sldMkLst>
        <pc:spChg chg="mod">
          <ac:chgData name="" userId="c97b0bdea4c3346b" providerId="LiveId" clId="{5C114944-6436-46B5-82DA-9048C7476598}" dt="2025-07-13T07:56:12.674" v="502" actId="1076"/>
          <ac:spMkLst>
            <pc:docMk/>
            <pc:sldMk cId="1890309261" sldId="257"/>
            <ac:spMk id="7" creationId="{399537C5-07B4-9018-DB9D-865A40772E57}"/>
          </ac:spMkLst>
        </pc:spChg>
      </pc:sldChg>
      <pc:sldChg chg="modSp modNotesTx">
        <pc:chgData name="" userId="c97b0bdea4c3346b" providerId="LiveId" clId="{5C114944-6436-46B5-82DA-9048C7476598}" dt="2025-07-13T18:43:36.473" v="949" actId="20577"/>
        <pc:sldMkLst>
          <pc:docMk/>
          <pc:sldMk cId="2167610444" sldId="258"/>
        </pc:sldMkLst>
        <pc:spChg chg="mod">
          <ac:chgData name="" userId="c97b0bdea4c3346b" providerId="LiveId" clId="{5C114944-6436-46B5-82DA-9048C7476598}" dt="2025-07-13T17:55:19.846" v="578" actId="113"/>
          <ac:spMkLst>
            <pc:docMk/>
            <pc:sldMk cId="2167610444" sldId="258"/>
            <ac:spMk id="4" creationId="{6546D99A-C28B-EE91-D010-BD6753E544E4}"/>
          </ac:spMkLst>
        </pc:spChg>
        <pc:spChg chg="mod">
          <ac:chgData name="" userId="c97b0bdea4c3346b" providerId="LiveId" clId="{5C114944-6436-46B5-82DA-9048C7476598}" dt="2025-07-13T18:43:36.473" v="949" actId="20577"/>
          <ac:spMkLst>
            <pc:docMk/>
            <pc:sldMk cId="2167610444" sldId="258"/>
            <ac:spMk id="7" creationId="{399537C5-07B4-9018-DB9D-865A40772E57}"/>
          </ac:spMkLst>
        </pc:spChg>
        <pc:picChg chg="mod">
          <ac:chgData name="" userId="c97b0bdea4c3346b" providerId="LiveId" clId="{5C114944-6436-46B5-82DA-9048C7476598}" dt="2025-07-13T18:06:12.558" v="762" actId="1076"/>
          <ac:picMkLst>
            <pc:docMk/>
            <pc:sldMk cId="2167610444" sldId="258"/>
            <ac:picMk id="13" creationId="{54D888A4-32C1-D280-CA4F-06C9541A6D96}"/>
          </ac:picMkLst>
        </pc:picChg>
        <pc:picChg chg="mod">
          <ac:chgData name="" userId="c97b0bdea4c3346b" providerId="LiveId" clId="{5C114944-6436-46B5-82DA-9048C7476598}" dt="2025-07-13T17:54:52.154" v="575" actId="14100"/>
          <ac:picMkLst>
            <pc:docMk/>
            <pc:sldMk cId="2167610444" sldId="258"/>
            <ac:picMk id="3074" creationId="{359BC2E4-2461-FFE7-1062-A72FB7BD4681}"/>
          </ac:picMkLst>
        </pc:picChg>
      </pc:sldChg>
      <pc:sldChg chg="modSp modNotesTx">
        <pc:chgData name="" userId="c97b0bdea4c3346b" providerId="LiveId" clId="{5C114944-6436-46B5-82DA-9048C7476598}" dt="2025-07-13T18:14:38.262" v="793" actId="113"/>
        <pc:sldMkLst>
          <pc:docMk/>
          <pc:sldMk cId="3453966029" sldId="259"/>
        </pc:sldMkLst>
        <pc:spChg chg="mod">
          <ac:chgData name="" userId="c97b0bdea4c3346b" providerId="LiveId" clId="{5C114944-6436-46B5-82DA-9048C7476598}" dt="2025-07-13T08:02:11.842" v="544" actId="1076"/>
          <ac:spMkLst>
            <pc:docMk/>
            <pc:sldMk cId="3453966029" sldId="259"/>
            <ac:spMk id="7" creationId="{399537C5-07B4-9018-DB9D-865A40772E57}"/>
          </ac:spMkLst>
        </pc:spChg>
      </pc:sldChg>
      <pc:sldChg chg="modSp modNotesTx">
        <pc:chgData name="" userId="c97b0bdea4c3346b" providerId="LiveId" clId="{5C114944-6436-46B5-82DA-9048C7476598}" dt="2025-07-13T18:15:21.628" v="800" actId="113"/>
        <pc:sldMkLst>
          <pc:docMk/>
          <pc:sldMk cId="2672531175" sldId="260"/>
        </pc:sldMkLst>
        <pc:spChg chg="mod">
          <ac:chgData name="" userId="c97b0bdea4c3346b" providerId="LiveId" clId="{5C114944-6436-46B5-82DA-9048C7476598}" dt="2025-07-13T07:56:46.067" v="516" actId="1076"/>
          <ac:spMkLst>
            <pc:docMk/>
            <pc:sldMk cId="2672531175" sldId="260"/>
            <ac:spMk id="7" creationId="{399537C5-07B4-9018-DB9D-865A40772E57}"/>
          </ac:spMkLst>
        </pc:spChg>
      </pc:sldChg>
      <pc:sldChg chg="modNotesTx">
        <pc:chgData name="" userId="c97b0bdea4c3346b" providerId="LiveId" clId="{5C114944-6436-46B5-82DA-9048C7476598}" dt="2025-07-13T18:37:33.679" v="863" actId="20577"/>
        <pc:sldMkLst>
          <pc:docMk/>
          <pc:sldMk cId="612777939" sldId="261"/>
        </pc:sldMkLst>
      </pc:sldChg>
      <pc:sldChg chg="modSp modNotesTx">
        <pc:chgData name="" userId="c97b0bdea4c3346b" providerId="LiveId" clId="{5C114944-6436-46B5-82DA-9048C7476598}" dt="2025-07-13T18:17:03.591" v="828" actId="20577"/>
        <pc:sldMkLst>
          <pc:docMk/>
          <pc:sldMk cId="14720995" sldId="262"/>
        </pc:sldMkLst>
        <pc:spChg chg="mod">
          <ac:chgData name="" userId="c97b0bdea4c3346b" providerId="LiveId" clId="{5C114944-6436-46B5-82DA-9048C7476598}" dt="2025-07-13T17:51:46.907" v="557" actId="20577"/>
          <ac:spMkLst>
            <pc:docMk/>
            <pc:sldMk cId="14720995" sldId="262"/>
            <ac:spMk id="3" creationId="{C34A1302-A8CD-D67A-9DF2-1CB8F87C36C7}"/>
          </ac:spMkLst>
        </pc:spChg>
      </pc:sldChg>
      <pc:sldChg chg="modSp ord modNotesTx">
        <pc:chgData name="" userId="c97b0bdea4c3346b" providerId="LiveId" clId="{5C114944-6436-46B5-82DA-9048C7476598}" dt="2025-07-13T18:18:55.113" v="843" actId="113"/>
        <pc:sldMkLst>
          <pc:docMk/>
          <pc:sldMk cId="2624810001" sldId="263"/>
        </pc:sldMkLst>
        <pc:spChg chg="mod">
          <ac:chgData name="" userId="c97b0bdea4c3346b" providerId="LiveId" clId="{5C114944-6436-46B5-82DA-9048C7476598}" dt="2025-07-13T06:16:20.604" v="313" actId="20577"/>
          <ac:spMkLst>
            <pc:docMk/>
            <pc:sldMk cId="2624810001" sldId="263"/>
            <ac:spMk id="9" creationId="{6D782222-AD01-E9E9-2DC1-24341A20F412}"/>
          </ac:spMkLst>
        </pc:spChg>
      </pc:sldChg>
      <pc:sldChg chg="modSp modNotesTx">
        <pc:chgData name="" userId="c97b0bdea4c3346b" providerId="LiveId" clId="{5C114944-6436-46B5-82DA-9048C7476598}" dt="2025-07-13T18:20:01.701" v="850" actId="113"/>
        <pc:sldMkLst>
          <pc:docMk/>
          <pc:sldMk cId="1703591506" sldId="264"/>
        </pc:sldMkLst>
        <pc:spChg chg="mod">
          <ac:chgData name="" userId="c97b0bdea4c3346b" providerId="LiveId" clId="{5C114944-6436-46B5-82DA-9048C7476598}" dt="2025-07-13T06:19:09.580" v="345" actId="20577"/>
          <ac:spMkLst>
            <pc:docMk/>
            <pc:sldMk cId="1703591506" sldId="264"/>
            <ac:spMk id="7" creationId="{F99DDB7C-EDFF-A288-6B55-9DEB74BC213F}"/>
          </ac:spMkLst>
        </pc:spChg>
      </pc:sldChg>
      <pc:sldChg chg="modSp">
        <pc:chgData name="" userId="c97b0bdea4c3346b" providerId="LiveId" clId="{5C114944-6436-46B5-82DA-9048C7476598}" dt="2025-07-13T17:52:07.607" v="558" actId="1076"/>
        <pc:sldMkLst>
          <pc:docMk/>
          <pc:sldMk cId="3656839590" sldId="265"/>
        </pc:sldMkLst>
        <pc:spChg chg="mod">
          <ac:chgData name="" userId="c97b0bdea4c3346b" providerId="LiveId" clId="{5C114944-6436-46B5-82DA-9048C7476598}" dt="2025-07-13T17:52:07.607" v="558" actId="1076"/>
          <ac:spMkLst>
            <pc:docMk/>
            <pc:sldMk cId="3656839590" sldId="265"/>
            <ac:spMk id="7" creationId="{399537C5-07B4-9018-DB9D-865A40772E57}"/>
          </ac:spMkLst>
        </pc:spChg>
      </pc:sldChg>
      <pc:sldChg chg="modSp">
        <pc:chgData name="" userId="c97b0bdea4c3346b" providerId="LiveId" clId="{5C114944-6436-46B5-82DA-9048C7476598}" dt="2025-07-13T07:57:30.634" v="541" actId="20577"/>
        <pc:sldMkLst>
          <pc:docMk/>
          <pc:sldMk cId="4282594468" sldId="266"/>
        </pc:sldMkLst>
        <pc:spChg chg="mod">
          <ac:chgData name="" userId="c97b0bdea4c3346b" providerId="LiveId" clId="{5C114944-6436-46B5-82DA-9048C7476598}" dt="2025-07-13T07:57:30.634" v="541" actId="20577"/>
          <ac:spMkLst>
            <pc:docMk/>
            <pc:sldMk cId="4282594468" sldId="266"/>
            <ac:spMk id="7" creationId="{399537C5-07B4-9018-DB9D-865A40772E57}"/>
          </ac:spMkLst>
        </pc:spChg>
      </pc:sldChg>
      <pc:sldChg chg="addSp delSp modSp">
        <pc:chgData name="" userId="c97b0bdea4c3346b" providerId="LiveId" clId="{5C114944-6436-46B5-82DA-9048C7476598}" dt="2025-07-13T06:11:49.790" v="176" actId="1076"/>
        <pc:sldMkLst>
          <pc:docMk/>
          <pc:sldMk cId="1901220853" sldId="268"/>
        </pc:sldMkLst>
        <pc:spChg chg="mod">
          <ac:chgData name="" userId="c97b0bdea4c3346b" providerId="LiveId" clId="{5C114944-6436-46B5-82DA-9048C7476598}" dt="2025-07-13T06:11:21.362" v="169" actId="1076"/>
          <ac:spMkLst>
            <pc:docMk/>
            <pc:sldMk cId="1901220853" sldId="268"/>
            <ac:spMk id="2" creationId="{73CE28FC-4A4B-D554-A044-D64DD41ACFA1}"/>
          </ac:spMkLst>
        </pc:spChg>
        <pc:spChg chg="del mod">
          <ac:chgData name="" userId="c97b0bdea4c3346b" providerId="LiveId" clId="{5C114944-6436-46B5-82DA-9048C7476598}" dt="2025-07-13T06:03:50.061" v="72" actId="478"/>
          <ac:spMkLst>
            <pc:docMk/>
            <pc:sldMk cId="1901220853" sldId="268"/>
            <ac:spMk id="7" creationId="{399537C5-07B4-9018-DB9D-865A40772E57}"/>
          </ac:spMkLst>
        </pc:spChg>
        <pc:spChg chg="add mod">
          <ac:chgData name="" userId="c97b0bdea4c3346b" providerId="LiveId" clId="{5C114944-6436-46B5-82DA-9048C7476598}" dt="2025-07-13T06:11:05.889" v="166" actId="1076"/>
          <ac:spMkLst>
            <pc:docMk/>
            <pc:sldMk cId="1901220853" sldId="268"/>
            <ac:spMk id="11" creationId="{15D137E0-3AF2-4EF9-9E98-7EB07E20E6D0}"/>
          </ac:spMkLst>
        </pc:spChg>
        <pc:spChg chg="add mod">
          <ac:chgData name="" userId="c97b0bdea4c3346b" providerId="LiveId" clId="{5C114944-6436-46B5-82DA-9048C7476598}" dt="2025-07-13T06:11:28.394" v="171" actId="1076"/>
          <ac:spMkLst>
            <pc:docMk/>
            <pc:sldMk cId="1901220853" sldId="268"/>
            <ac:spMk id="12" creationId="{76A15BDB-0DCB-4A21-B097-7E5CD487C830}"/>
          </ac:spMkLst>
        </pc:spChg>
        <pc:spChg chg="add mod">
          <ac:chgData name="" userId="c97b0bdea4c3346b" providerId="LiveId" clId="{5C114944-6436-46B5-82DA-9048C7476598}" dt="2025-07-13T06:11:36.874" v="173" actId="1076"/>
          <ac:spMkLst>
            <pc:docMk/>
            <pc:sldMk cId="1901220853" sldId="268"/>
            <ac:spMk id="14" creationId="{1F338CA4-4DC1-4469-A4B2-72DD68CF4E88}"/>
          </ac:spMkLst>
        </pc:spChg>
        <pc:spChg chg="add mod">
          <ac:chgData name="" userId="c97b0bdea4c3346b" providerId="LiveId" clId="{5C114944-6436-46B5-82DA-9048C7476598}" dt="2025-07-13T06:11:13.192" v="167" actId="1076"/>
          <ac:spMkLst>
            <pc:docMk/>
            <pc:sldMk cId="1901220853" sldId="268"/>
            <ac:spMk id="15" creationId="{E2AB44DB-0714-4FD6-A6E0-D824FF05EC23}"/>
          </ac:spMkLst>
        </pc:spChg>
        <pc:spChg chg="add mod">
          <ac:chgData name="" userId="c97b0bdea4c3346b" providerId="LiveId" clId="{5C114944-6436-46B5-82DA-9048C7476598}" dt="2025-07-13T06:11:49.790" v="176" actId="1076"/>
          <ac:spMkLst>
            <pc:docMk/>
            <pc:sldMk cId="1901220853" sldId="268"/>
            <ac:spMk id="16" creationId="{55923922-FFDD-41C3-9F49-6BB43FC291D9}"/>
          </ac:spMkLst>
        </pc:spChg>
        <pc:picChg chg="del">
          <ac:chgData name="" userId="c97b0bdea4c3346b" providerId="LiveId" clId="{5C114944-6436-46B5-82DA-9048C7476598}" dt="2025-07-13T06:03:43.373" v="70" actId="478"/>
          <ac:picMkLst>
            <pc:docMk/>
            <pc:sldMk cId="1901220853" sldId="268"/>
            <ac:picMk id="8" creationId="{1873C756-0E1A-47ED-4495-C5BCAF821D2E}"/>
          </ac:picMkLst>
        </pc:picChg>
        <pc:picChg chg="del">
          <ac:chgData name="" userId="c97b0bdea4c3346b" providerId="LiveId" clId="{5C114944-6436-46B5-82DA-9048C7476598}" dt="2025-07-13T06:03:45.270" v="71" actId="478"/>
          <ac:picMkLst>
            <pc:docMk/>
            <pc:sldMk cId="1901220853" sldId="268"/>
            <ac:picMk id="13" creationId="{54D888A4-32C1-D280-CA4F-06C9541A6D96}"/>
          </ac:picMkLst>
        </pc:picChg>
        <pc:cxnChg chg="add mod">
          <ac:chgData name="" userId="c97b0bdea4c3346b" providerId="LiveId" clId="{5C114944-6436-46B5-82DA-9048C7476598}" dt="2025-07-13T06:09:50.827" v="153" actId="1076"/>
          <ac:cxnSpMkLst>
            <pc:docMk/>
            <pc:sldMk cId="1901220853" sldId="268"/>
            <ac:cxnSpMk id="9" creationId="{8B726318-85E4-4234-A49B-0BD5909CC251}"/>
          </ac:cxnSpMkLst>
        </pc:cxnChg>
        <pc:cxnChg chg="add mod">
          <ac:chgData name="" userId="c97b0bdea4c3346b" providerId="LiveId" clId="{5C114944-6436-46B5-82DA-9048C7476598}" dt="2025-07-13T06:10:46.192" v="164" actId="1076"/>
          <ac:cxnSpMkLst>
            <pc:docMk/>
            <pc:sldMk cId="1901220853" sldId="268"/>
            <ac:cxnSpMk id="17" creationId="{1B0FAE1F-EA03-47FC-A41F-EF6FBCB3D219}"/>
          </ac:cxnSpMkLst>
        </pc:cxnChg>
        <pc:cxnChg chg="add mod">
          <ac:chgData name="" userId="c97b0bdea4c3346b" providerId="LiveId" clId="{5C114944-6436-46B5-82DA-9048C7476598}" dt="2025-07-13T06:10:23.346" v="160" actId="1076"/>
          <ac:cxnSpMkLst>
            <pc:docMk/>
            <pc:sldMk cId="1901220853" sldId="268"/>
            <ac:cxnSpMk id="18" creationId="{3F0BAFA2-B1D9-4B62-9CB3-C7CE6FDF7B14}"/>
          </ac:cxnSpMkLst>
        </pc:cxnChg>
        <pc:cxnChg chg="add mod">
          <ac:chgData name="" userId="c97b0bdea4c3346b" providerId="LiveId" clId="{5C114944-6436-46B5-82DA-9048C7476598}" dt="2025-07-13T06:10:34.557" v="162" actId="1076"/>
          <ac:cxnSpMkLst>
            <pc:docMk/>
            <pc:sldMk cId="1901220853" sldId="268"/>
            <ac:cxnSpMk id="19" creationId="{BB9B9C04-A37C-4469-AD56-D4BAAF681DD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1A586EF-ECD3-7249-86E8-B2A6E29290DC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C77082A-6367-8E46-BB24-A890994595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51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Let’s begin with the problem.</a:t>
            </a:r>
            <a:br>
              <a:rPr lang="en-US" dirty="0"/>
            </a:br>
            <a:r>
              <a:rPr lang="en-US" dirty="0"/>
              <a:t>Most traditional stock prediction models rely mostly—or even entirely—on historical stock data.</a:t>
            </a:r>
            <a:br>
              <a:rPr lang="en-US" dirty="0"/>
            </a:br>
            <a:r>
              <a:rPr lang="en-US" dirty="0"/>
              <a:t>But in today's market, </a:t>
            </a:r>
            <a:r>
              <a:rPr lang="en-US" b="1" dirty="0"/>
              <a:t>that's not enough.</a:t>
            </a:r>
            <a:br>
              <a:rPr lang="en-US" b="1" dirty="0"/>
            </a:br>
            <a:r>
              <a:rPr lang="en-US" dirty="0"/>
              <a:t>The biggest price movements are often triggered by public sentiment, news events, or social media reactions.</a:t>
            </a:r>
            <a:br>
              <a:rPr lang="en-US" dirty="0"/>
            </a:br>
            <a:r>
              <a:rPr lang="en-US" dirty="0"/>
              <a:t>For example, imagine if tomorrow morning, </a:t>
            </a:r>
            <a:r>
              <a:rPr lang="en-US" b="1" dirty="0"/>
              <a:t>Donald Trump publicly criticizes Tesla.</a:t>
            </a:r>
          </a:p>
          <a:p>
            <a:pPr algn="l" rtl="0"/>
            <a:r>
              <a:rPr lang="en-US" dirty="0"/>
              <a:t>The stock might </a:t>
            </a:r>
            <a:r>
              <a:rPr lang="en-US" b="1" dirty="0"/>
              <a:t>drop significantly by the end of the day</a:t>
            </a:r>
            <a:r>
              <a:rPr lang="en-US" dirty="0"/>
              <a:t>—not because of anything in its historical trend, but because of a sudden </a:t>
            </a:r>
            <a:r>
              <a:rPr lang="en-US" b="1" dirty="0"/>
              <a:t>shift in public opinion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</a:t>
            </a:r>
            <a:r>
              <a:rPr lang="en-US" b="1" dirty="0"/>
              <a:t>emotional, fast-changing factors </a:t>
            </a:r>
            <a:r>
              <a:rPr lang="en-US" dirty="0"/>
              <a:t>are critical to market behavior.</a:t>
            </a:r>
          </a:p>
          <a:p>
            <a:pPr algn="l" rtl="0"/>
            <a:r>
              <a:rPr lang="en-US" dirty="0"/>
              <a:t>Ignoring them can lead to </a:t>
            </a:r>
            <a:r>
              <a:rPr lang="en-US" b="1" dirty="0"/>
              <a:t>less accurate predictions</a:t>
            </a:r>
            <a:r>
              <a:rPr lang="en-US" dirty="0"/>
              <a:t>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45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sz="1600" dirty="0"/>
              <a:t>Although there are </a:t>
            </a:r>
            <a:r>
              <a:rPr lang="en-US" sz="1600" b="1" dirty="0"/>
              <a:t>only a few studies</a:t>
            </a:r>
            <a:r>
              <a:rPr lang="en-US" sz="1600" dirty="0"/>
              <a:t> that integrate sentiment analysis into stock prediction, their results are consistently impressive.</a:t>
            </a:r>
            <a:br>
              <a:rPr lang="en-US" sz="1600" dirty="0"/>
            </a:br>
            <a:r>
              <a:rPr lang="en-US" sz="1600" dirty="0"/>
              <a:t>They show that when we </a:t>
            </a:r>
            <a:r>
              <a:rPr lang="en-US" sz="1600" b="1" dirty="0"/>
              <a:t>add sentiment data</a:t>
            </a:r>
            <a:r>
              <a:rPr lang="en-US" sz="1600" dirty="0"/>
              <a:t>—from news or social media—the prediction </a:t>
            </a:r>
            <a:r>
              <a:rPr lang="en-US" sz="1600" b="1" dirty="0"/>
              <a:t>becomes significantly more accurate.</a:t>
            </a:r>
            <a:br>
              <a:rPr lang="en-US" sz="1600" b="1" dirty="0"/>
            </a:br>
            <a:r>
              <a:rPr lang="en-US" sz="1600" dirty="0"/>
              <a:t>Also, LSTM models consistently deliver the </a:t>
            </a:r>
            <a:r>
              <a:rPr lang="en-US" sz="1600" b="1" dirty="0"/>
              <a:t>highest accuracy in recent studies.</a:t>
            </a:r>
            <a:br>
              <a:rPr lang="en-US" sz="1600" b="1" dirty="0"/>
            </a:br>
            <a:r>
              <a:rPr lang="en-US" sz="1600" b="1" dirty="0"/>
              <a:t>So the conclusion is clear: </a:t>
            </a:r>
            <a:r>
              <a:rPr lang="en-US" sz="1600" dirty="0"/>
              <a:t>combining numerical stock data with sentiment signals, and using advanced models like LSTM, gives the best results.</a:t>
            </a:r>
            <a:endParaRPr lang="he-IL" sz="160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391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Our solution is a </a:t>
            </a:r>
            <a:r>
              <a:rPr lang="en-US" b="1" dirty="0"/>
              <a:t>smart forecasting system.</a:t>
            </a:r>
            <a:br>
              <a:rPr lang="en-US" b="1" dirty="0"/>
            </a:br>
            <a:r>
              <a:rPr lang="en-US" dirty="0"/>
              <a:t>It predicts short-term stock movements using </a:t>
            </a:r>
            <a:r>
              <a:rPr lang="en-US" b="1" dirty="0"/>
              <a:t>historical prices and public sentiment.</a:t>
            </a:r>
            <a:br>
              <a:rPr lang="en-US" b="1" dirty="0"/>
            </a:br>
            <a:r>
              <a:rPr lang="en-US" dirty="0"/>
              <a:t>Sentiment is extracted from financial news and Twitter.</a:t>
            </a:r>
            <a:br>
              <a:rPr lang="en-US" dirty="0"/>
            </a:br>
            <a:r>
              <a:rPr lang="en-US" dirty="0"/>
              <a:t>We use an </a:t>
            </a:r>
            <a:r>
              <a:rPr lang="en-US" b="1" dirty="0"/>
              <a:t>LSTM model </a:t>
            </a:r>
            <a:r>
              <a:rPr lang="en-US" dirty="0"/>
              <a:t>to predict whether the stock will go </a:t>
            </a:r>
            <a:r>
              <a:rPr lang="en-US" b="1" dirty="0"/>
              <a:t>up or down the next day</a:t>
            </a:r>
            <a:r>
              <a:rPr lang="en-US" dirty="0"/>
              <a:t>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841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Font typeface="Arial" panose="020B0604020202020204" pitchFamily="34" charset="0"/>
              <a:buNone/>
            </a:pPr>
            <a:r>
              <a:rPr lang="en-US" dirty="0"/>
              <a:t>Here are the key advantages of our system:</a:t>
            </a:r>
            <a:br>
              <a:rPr lang="en-US" dirty="0"/>
            </a:br>
            <a:r>
              <a:rPr lang="en-US" dirty="0"/>
              <a:t>First, we use </a:t>
            </a:r>
            <a:r>
              <a:rPr lang="en-US" b="1" dirty="0"/>
              <a:t>multiple data sources</a:t>
            </a:r>
            <a:r>
              <a:rPr lang="en-US" dirty="0"/>
              <a:t> — not just stock prices, but also sentiment from news and social media.</a:t>
            </a:r>
          </a:p>
          <a:p>
            <a:pPr algn="l" rtl="0">
              <a:buFont typeface="Arial" panose="020B0604020202020204" pitchFamily="34" charset="0"/>
              <a:buNone/>
            </a:pPr>
            <a:r>
              <a:rPr lang="en-US" dirty="0"/>
              <a:t>This gives us a more </a:t>
            </a:r>
            <a:r>
              <a:rPr lang="en-US" b="1" dirty="0"/>
              <a:t>complete view of market conditions.</a:t>
            </a:r>
            <a:br>
              <a:rPr lang="en-US" dirty="0"/>
            </a:br>
            <a:r>
              <a:rPr lang="en-US" dirty="0"/>
              <a:t>Second, we focus on near-future predictions, which help </a:t>
            </a:r>
            <a:r>
              <a:rPr lang="en-US" b="1" dirty="0"/>
              <a:t>active traders make quick decisions.</a:t>
            </a:r>
            <a:br>
              <a:rPr lang="en-US" b="1" dirty="0"/>
            </a:br>
            <a:r>
              <a:rPr lang="en-US" dirty="0"/>
              <a:t>And finally, we designed a </a:t>
            </a:r>
            <a:r>
              <a:rPr lang="en-US" b="1" dirty="0"/>
              <a:t>simple and intuitive user interface</a:t>
            </a:r>
            <a:r>
              <a:rPr lang="en-US" dirty="0"/>
              <a:t>, so users can easily access predictions </a:t>
            </a:r>
            <a:r>
              <a:rPr lang="en-US" b="1" dirty="0"/>
              <a:t>without needing a technical background.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9355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buFont typeface="Arial" panose="020B0604020202020204" pitchFamily="34" charset="0"/>
              <a:buNone/>
            </a:pPr>
            <a:r>
              <a:rPr lang="en-US" dirty="0"/>
              <a:t>This is the full system architecture.</a:t>
            </a:r>
          </a:p>
          <a:p>
            <a:pPr algn="l" rtl="0">
              <a:buFont typeface="Arial" panose="020B0604020202020204" pitchFamily="34" charset="0"/>
              <a:buNone/>
            </a:pPr>
            <a:r>
              <a:rPr lang="en-US" dirty="0"/>
              <a:t>In the next slides, I’ll go over each part separately.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073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We collect stock and news data using APIs, and tweets are scraped directly from X.</a:t>
            </a:r>
          </a:p>
          <a:p>
            <a:pPr algn="l" rtl="0"/>
            <a:r>
              <a:rPr lang="en-US" dirty="0"/>
              <a:t>Each source is </a:t>
            </a:r>
            <a:r>
              <a:rPr lang="en-US" b="1" dirty="0"/>
              <a:t>handled separately, </a:t>
            </a:r>
            <a:r>
              <a:rPr lang="en-US" dirty="0"/>
              <a:t>cleaned, and then </a:t>
            </a:r>
            <a:r>
              <a:rPr lang="en-US" b="1" dirty="0"/>
              <a:t>synchronized by time.</a:t>
            </a:r>
          </a:p>
          <a:p>
            <a:pPr algn="l" rtl="0"/>
            <a:r>
              <a:rPr lang="en-US" dirty="0"/>
              <a:t>We use 60 days of stock data because it takes time to detect price patterns and trends.</a:t>
            </a:r>
          </a:p>
          <a:p>
            <a:pPr algn="l" rtl="0"/>
            <a:r>
              <a:rPr lang="en-US" dirty="0"/>
              <a:t>But sentiment — like tweets or news — only impacts the market in the short term.</a:t>
            </a:r>
          </a:p>
          <a:p>
            <a:pPr algn="l" rtl="0"/>
            <a:r>
              <a:rPr lang="en-US" dirty="0"/>
              <a:t>A negative post today might cause the stock to drop tomorrow, but by the next week, it's usually forgotten. So 3 days of sentiment is enough.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6383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At this stage, we </a:t>
            </a:r>
            <a:r>
              <a:rPr lang="en-US" b="1" dirty="0"/>
              <a:t>extract features from three different data sources</a:t>
            </a:r>
            <a:r>
              <a:rPr lang="en-US" dirty="0"/>
              <a:t>: stock prices, news articles, and tweets.</a:t>
            </a:r>
          </a:p>
          <a:p>
            <a:pPr algn="l" rtl="0"/>
            <a:r>
              <a:rPr lang="en-US" dirty="0"/>
              <a:t>We take the past 60 days of stock prices and turn them into sequences. That way, the model can learn how the stock moves over time.</a:t>
            </a:r>
          </a:p>
          <a:p>
            <a:pPr algn="l" rtl="0"/>
            <a:endParaRPr lang="en-US" dirty="0"/>
          </a:p>
          <a:p>
            <a:pPr algn="l" rtl="0"/>
            <a:r>
              <a:rPr lang="en-US" b="1" dirty="0"/>
              <a:t>For News and Tweets:</a:t>
            </a:r>
            <a:endParaRPr lang="he-IL" b="1" dirty="0"/>
          </a:p>
          <a:p>
            <a:pPr algn="l" rtl="0"/>
            <a:r>
              <a:rPr lang="en-US" dirty="0"/>
              <a:t>Because news and tweets are just </a:t>
            </a:r>
            <a:r>
              <a:rPr lang="en-US" b="1" dirty="0"/>
              <a:t>plain text, </a:t>
            </a:r>
            <a:r>
              <a:rPr lang="en-US" dirty="0"/>
              <a:t>we need to analyze the words and figure out the </a:t>
            </a:r>
            <a:r>
              <a:rPr lang="en-US" b="1" dirty="0"/>
              <a:t>general feeling </a:t>
            </a:r>
            <a:r>
              <a:rPr lang="en-US" dirty="0"/>
              <a:t>— if it's positive, negative, or neutral — before we can use it in the model.</a:t>
            </a:r>
          </a:p>
          <a:p>
            <a:pPr algn="l" rtl="0"/>
            <a:r>
              <a:rPr lang="en-US" dirty="0"/>
              <a:t>Sentiment scoring is a way to </a:t>
            </a:r>
            <a:r>
              <a:rPr lang="en-US" b="1" dirty="0"/>
              <a:t>give a number </a:t>
            </a:r>
            <a:r>
              <a:rPr lang="en-US" dirty="0"/>
              <a:t>to how positive, negative, or neutral the news or tweets were on a certain day — and how </a:t>
            </a:r>
            <a:r>
              <a:rPr lang="en-US" b="1" dirty="0"/>
              <a:t>strong</a:t>
            </a:r>
            <a:r>
              <a:rPr lang="en-US" dirty="0"/>
              <a:t> that feeling was.</a:t>
            </a:r>
          </a:p>
          <a:p>
            <a:pPr algn="l" rtl="0"/>
            <a:r>
              <a:rPr lang="en-US" dirty="0"/>
              <a:t>It </a:t>
            </a:r>
            <a:r>
              <a:rPr lang="en-US" b="1" dirty="0"/>
              <a:t>turns opinions and emotions into a score </a:t>
            </a:r>
            <a:r>
              <a:rPr lang="en-US" dirty="0"/>
              <a:t>we can use in the model.</a:t>
            </a:r>
          </a:p>
          <a:p>
            <a:pPr algn="l" rtl="0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 rtl="0"/>
            <a:r>
              <a:rPr lang="en-US" dirty="0"/>
              <a:t>Each input — stock prices, news sentiment, and tweet sentiment — goes into its </a:t>
            </a:r>
            <a:r>
              <a:rPr lang="en-US" b="1" dirty="0"/>
              <a:t>own separate LSTM network</a:t>
            </a:r>
            <a:r>
              <a:rPr lang="en-US" dirty="0"/>
              <a:t>.</a:t>
            </a:r>
          </a:p>
          <a:p>
            <a:pPr algn="l" rtl="0"/>
            <a:r>
              <a:rPr lang="en-US" dirty="0"/>
              <a:t>They all use the </a:t>
            </a:r>
            <a:r>
              <a:rPr lang="en-US" b="1" dirty="0"/>
              <a:t>same structure, </a:t>
            </a:r>
            <a:r>
              <a:rPr lang="en-US" dirty="0"/>
              <a:t>but they are trained separately. So each one produces its own output vector.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9962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In this stage, we take the </a:t>
            </a:r>
            <a:r>
              <a:rPr lang="en-US" b="1" dirty="0"/>
              <a:t>three feature vectors </a:t>
            </a:r>
            <a:r>
              <a:rPr lang="en-US" dirty="0"/>
              <a:t>— one from stock data, one from news, and one from tweets — and combine them into a single input.</a:t>
            </a:r>
          </a:p>
          <a:p>
            <a:pPr algn="l" rtl="0"/>
            <a:r>
              <a:rPr lang="en-US" dirty="0"/>
              <a:t>Then we pass it through a </a:t>
            </a:r>
            <a:r>
              <a:rPr lang="en-US" b="1" dirty="0"/>
              <a:t>few dense layers </a:t>
            </a:r>
            <a:r>
              <a:rPr lang="en-US" dirty="0"/>
              <a:t>to learn </a:t>
            </a:r>
            <a:r>
              <a:rPr lang="en-US" b="1" dirty="0"/>
              <a:t>deeper patterns.</a:t>
            </a:r>
          </a:p>
          <a:p>
            <a:pPr algn="l" rtl="0"/>
            <a:r>
              <a:rPr lang="en-US" dirty="0"/>
              <a:t>The final Dense layer uses a </a:t>
            </a:r>
            <a:r>
              <a:rPr lang="en-US" b="1" dirty="0"/>
              <a:t>sigmoid activation</a:t>
            </a:r>
            <a:r>
              <a:rPr lang="en-US" dirty="0"/>
              <a:t>, which turns the output into a probability between 0 and 1 — representing how </a:t>
            </a:r>
            <a:r>
              <a:rPr lang="en-US" b="1" dirty="0"/>
              <a:t>confident</a:t>
            </a:r>
            <a:r>
              <a:rPr lang="en-US" dirty="0"/>
              <a:t> the model is that the stock will go up.</a:t>
            </a:r>
          </a:p>
          <a:p>
            <a:pPr algn="l" rtl="0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 rtl="0"/>
            <a:r>
              <a:rPr lang="en-US" dirty="0"/>
              <a:t>We train the whole pipeline together — not just the final layers. That means the model also learns how </a:t>
            </a:r>
            <a:r>
              <a:rPr lang="en-US" b="0" dirty="0"/>
              <a:t>to</a:t>
            </a:r>
            <a:r>
              <a:rPr lang="en-US" b="1" dirty="0"/>
              <a:t> better extract useful information </a:t>
            </a:r>
            <a:r>
              <a:rPr lang="en-US" dirty="0"/>
              <a:t>from prices and sentiment while training.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7035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2228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1008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4789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0779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6898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3513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4287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1502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7082A-6367-8E46-BB24-A890994595EB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8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B88A1F-CDF2-61AA-684B-FCF31AC92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D987E80-B9C7-37E8-CF29-440ED565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F7EC38-0396-4484-13EB-B13843E6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CE8A9A6-B8F2-0D8C-2671-9378354C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F435243-0AE8-3C40-9A82-476449F4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700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81A97F-26F9-367A-92AE-B7454449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AC8188-6669-32CA-4C2A-4D09971FB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10A48B2-7F06-81D7-26FE-32697793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8B6ACDE-28E4-2FDC-EC7B-E087FFD4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4B1D1FD-EE62-11DD-50A6-D5F54D3A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424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CB79A3-3F1B-8313-DA5F-7BFF2AF2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0C8E6B3-77AB-51E8-13B3-7AD8FB1ED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DF0F052-CAD9-710B-4689-435BED86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FC7AA4D-B3F9-28CA-2BB2-0A272762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BD8E0D7-5E8A-F952-FCA3-7485AA13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759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D2F2B9-7EE3-A6BA-7B05-02384298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3A03969-B261-CCA7-DCAE-F4EC752C0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0186142-53A5-B6B1-F60A-C0FD07EAB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8D4B174-1B4A-DEE4-4FE3-AC57419B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1B8D41A-6721-9D53-C5F8-9B738B3C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53944D-A322-7955-9C9F-857CA4ED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978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84B9CB-557B-031A-B73D-532A84B5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C10AE4-64C8-06F4-74E9-84F8C26DD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035607C-7A13-B6D5-A3AD-E1E097345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67B3DF1-74FD-CCD4-2295-971D5D33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5C1D8C1-F39A-C4A8-8566-275B6FA8F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5E70291-6CC8-85A7-C1A5-5BB1C121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764419B-B0D9-B984-1B90-582F8D11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937C5AC-B148-E70A-E04E-856A4788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297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440E8D-8DF1-E295-2D67-995E414B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63350F5-AB7E-4A46-5D73-E93AA26F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222FE22-1701-9EA6-7C95-2E2404FD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24B8E30-A512-5001-204D-4F98A65F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80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6DFA2B3-08CD-A45F-DB77-D255FA01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D3893FA-B265-185A-42AD-E3734D24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26CABB8-741F-F4C2-2B17-F5A82627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624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CDEFBA-5B47-1C68-F9C2-CFA5EB48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E97196C-3346-7AF8-9D28-E9EB82512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698CB20-B4B9-D7AB-8E17-804E4AEDF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FD425F-9A3A-9A98-28FD-CD47546D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FC304B3-3A3E-ECF2-8C24-8585AEEE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2C7621D-B8EF-E5BD-C9E4-02A9B739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283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AE95F9-CC26-276C-AD4C-A3CB2506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6FF28C4-1CA1-1F3C-5DBB-2AAD2A2CF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1DCBD0C-AF06-D421-85EE-19572AB9C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824644D-C346-E97F-C97B-724EF2B3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7234542-8359-A04C-20D5-108E942B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EFDED60-C805-C8D5-E2FF-FBE971C1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943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8C55B5-DC1E-6052-D9ED-A2F7DBB7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E376DDB-8135-C8DE-244A-4F087172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3EEE50-B268-32EF-83C4-A04C853E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F3D97E-B5D7-56C5-4800-CA103278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E3118F-89D9-F9F3-EA46-69CD7C3E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144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737D5FA-3434-7047-77C3-6F62A527B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5435A3B-2BF1-5B4B-F561-8691661FA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19FFA8-F755-2F2D-F9D3-3364844F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B6B2BE-428E-2DC0-15EE-7C15283F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3B63109-9FAC-E7AD-868C-98D98724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02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B46308A-1228-BC85-3219-A94C7D74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1477D17-E286-3DBA-A26B-80C27CD21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3455DD-11D9-DB23-6CDC-01F2BA7B5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C648-7603-FC46-8EC6-F2EA39BA13DB}" type="datetimeFigureOut">
              <a:rPr lang="he-IL" smtClean="0"/>
              <a:t>י"ז/תמוז/תשפ"ה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93192B-1419-E3EC-89C4-316900CF5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FAC5C10-A277-FB7D-D666-04B28CD5B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EA1C-B2AF-B246-B620-DF7BDD4530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125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raude College of Engineering Karmiel">
            <a:extLst>
              <a:ext uri="{FF2B5EF4-FFF2-40B4-BE49-F238E27FC236}">
                <a16:creationId xmlns:a16="http://schemas.microsoft.com/office/drawing/2014/main" id="{2F859E53-E21B-6F81-B414-1B6842A5C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99338" cy="92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F933000-F359-73BC-3BB8-A9114E84FBD8}"/>
              </a:ext>
            </a:extLst>
          </p:cNvPr>
          <p:cNvSpPr txBox="1"/>
          <p:nvPr/>
        </p:nvSpPr>
        <p:spPr>
          <a:xfrm>
            <a:off x="2587142" y="1896314"/>
            <a:ext cx="7017711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1" eaLnBrk="1" latinLnBrk="0" hangingPunct="1"/>
            <a:r>
              <a:rPr lang="en-US" sz="4400" b="1" dirty="0">
                <a:latin typeface="Trebuchet MS" panose="020B0703020202090204" pitchFamily="34" charset="0"/>
              </a:rPr>
              <a:t>Stock Trend Prediction Using Sentiment Analysis</a:t>
            </a:r>
            <a:endParaRPr lang="he-IL" sz="4400" b="1" dirty="0">
              <a:latin typeface="Trebuchet MS" panose="020B0703020202090204" pitchFamily="34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82ACB58-DEA7-E824-26C2-C7ABAAE5ADD0}"/>
              </a:ext>
            </a:extLst>
          </p:cNvPr>
          <p:cNvSpPr txBox="1"/>
          <p:nvPr/>
        </p:nvSpPr>
        <p:spPr>
          <a:xfrm>
            <a:off x="2587143" y="1482920"/>
            <a:ext cx="701771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1" eaLnBrk="1" latinLnBrk="0" hangingPunct="1"/>
            <a:r>
              <a:rPr lang="en-US" sz="2400" b="1" dirty="0">
                <a:latin typeface="Trebuchet MS" panose="020B0703020202090204" pitchFamily="34" charset="0"/>
              </a:rPr>
              <a:t>Capstone Project Phase A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8FF6F41-0C5F-EB72-8109-43A2278E64BE}"/>
              </a:ext>
            </a:extLst>
          </p:cNvPr>
          <p:cNvSpPr txBox="1"/>
          <p:nvPr/>
        </p:nvSpPr>
        <p:spPr>
          <a:xfrm>
            <a:off x="2587141" y="3422683"/>
            <a:ext cx="701771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1" eaLnBrk="1" latinLnBrk="0" hangingPunct="1"/>
            <a:r>
              <a:rPr lang="en-US" sz="1600" b="1" dirty="0">
                <a:latin typeface="Trebuchet MS" panose="020B0703020202090204" pitchFamily="34" charset="0"/>
              </a:rPr>
              <a:t>Project code: 25-2-R-6</a:t>
            </a:r>
            <a:endParaRPr lang="he-IL" sz="1600" b="1" dirty="0">
              <a:latin typeface="Trebuchet MS" panose="020B0703020202090204" pitchFamily="34" charset="0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0D45170-1E5D-679C-4776-F6FB735CE02B}"/>
              </a:ext>
            </a:extLst>
          </p:cNvPr>
          <p:cNvSpPr txBox="1"/>
          <p:nvPr/>
        </p:nvSpPr>
        <p:spPr>
          <a:xfrm>
            <a:off x="2587141" y="4422396"/>
            <a:ext cx="7017711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1" eaLnBrk="1" latinLnBrk="0" hangingPunct="1"/>
            <a:r>
              <a:rPr lang="en-US" sz="2000" b="1" dirty="0">
                <a:latin typeface="Trebuchet MS" panose="020B0703020202090204" pitchFamily="34" charset="0"/>
              </a:rPr>
              <a:t>Shelly Trifonov</a:t>
            </a:r>
          </a:p>
          <a:p>
            <a:pPr marL="0" algn="ctr" defTabSz="914400" rtl="1" eaLnBrk="1" latinLnBrk="0" hangingPunct="1"/>
            <a:r>
              <a:rPr lang="en-US" sz="2000" b="1" dirty="0">
                <a:latin typeface="Trebuchet MS" panose="020B0703020202090204" pitchFamily="34" charset="0"/>
              </a:rPr>
              <a:t>Guy Naeh</a:t>
            </a:r>
          </a:p>
          <a:p>
            <a:pPr marL="0" algn="ctr" defTabSz="914400" rtl="1" eaLnBrk="1" latinLnBrk="0" hangingPunct="1"/>
            <a:endParaRPr lang="en-US" sz="2000" b="1" dirty="0">
              <a:latin typeface="Trebuchet MS" panose="020B0703020202090204" pitchFamily="34" charset="0"/>
            </a:endParaRPr>
          </a:p>
          <a:p>
            <a:pPr marL="0" algn="ctr" defTabSz="914400" rtl="1" eaLnBrk="1" latinLnBrk="0" hangingPunct="1"/>
            <a:endParaRPr lang="en-US" sz="2000" b="1" dirty="0">
              <a:latin typeface="Trebuchet MS" panose="020B0703020202090204" pitchFamily="34" charset="0"/>
            </a:endParaRPr>
          </a:p>
          <a:p>
            <a:pPr marL="0" algn="ctr" defTabSz="914400" rtl="1" eaLnBrk="1" latinLnBrk="0" hangingPunct="1"/>
            <a:r>
              <a:rPr lang="en-US" sz="2000" b="1" dirty="0">
                <a:latin typeface="Trebuchet MS" panose="020B0703020202090204" pitchFamily="34" charset="0"/>
              </a:rPr>
              <a:t>Supervisor: Mr. Ilya Zeldner</a:t>
            </a:r>
          </a:p>
        </p:txBody>
      </p:sp>
      <p:pic>
        <p:nvPicPr>
          <p:cNvPr id="14" name="תמונה 13" descr="תמונה שמכילה ירוק, גרפיקה&#10;&#10;התיאור נוצר באופן אוטומטי">
            <a:extLst>
              <a:ext uri="{FF2B5EF4-FFF2-40B4-BE49-F238E27FC236}">
                <a16:creationId xmlns:a16="http://schemas.microsoft.com/office/drawing/2014/main" id="{D8BADFD6-F82C-B2AF-B576-F384D11AF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238" b="41475"/>
          <a:stretch/>
        </p:blipFill>
        <p:spPr>
          <a:xfrm>
            <a:off x="8485871" y="6718"/>
            <a:ext cx="3708744" cy="900765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6D50E255-ACC8-42E7-E653-D1872CB57C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</a:blip>
          <a:srcRect l="31728"/>
          <a:stretch/>
        </p:blipFill>
        <p:spPr>
          <a:xfrm>
            <a:off x="6" y="3607349"/>
            <a:ext cx="4507398" cy="2934252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C183A640-1469-BB92-37DE-87AC7C90EF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</a:blip>
          <a:srcRect r="31728"/>
          <a:stretch/>
        </p:blipFill>
        <p:spPr>
          <a:xfrm>
            <a:off x="7684610" y="3607349"/>
            <a:ext cx="4507390" cy="2934252"/>
          </a:xfrm>
          <a:prstGeom prst="rect">
            <a:avLst/>
          </a:prstGeom>
        </p:spPr>
      </p:pic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782E1755-08E5-AA40-AED8-3371D109B2FB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33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37823" y="491984"/>
            <a:ext cx="701771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4800" b="1" dirty="0">
                <a:latin typeface="Trebuchet MS" panose="020B0603020202020204" pitchFamily="34" charset="0"/>
              </a:rPr>
              <a:t>The Problem</a:t>
            </a:r>
            <a:endParaRPr lang="he-IL" sz="4800" b="1" dirty="0">
              <a:latin typeface="Trebuchet MS" panose="020B0603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303415" y="1586646"/>
            <a:ext cx="7688907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Most traditional stock prediction models rely mostly on historical stock data</a:t>
            </a:r>
          </a:p>
          <a:p>
            <a:pPr algn="l" rtl="0"/>
            <a:endParaRPr lang="en-US" sz="2400" b="1" dirty="0">
              <a:latin typeface="Trebuchet MS" panose="020B0603020202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Stock market is highly affected by public opinion and events</a:t>
            </a:r>
          </a:p>
          <a:p>
            <a:pPr algn="l" rtl="0"/>
            <a:endParaRPr lang="en-US" sz="2400" b="1" dirty="0">
              <a:latin typeface="Trebuchet MS" panose="020B0603020202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News &amp; social media shift trends rapidly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pic>
        <p:nvPicPr>
          <p:cNvPr id="1026" name="Picture 2" descr="Download Free Challenge Icons in PNG &amp; SVG">
            <a:extLst>
              <a:ext uri="{FF2B5EF4-FFF2-40B4-BE49-F238E27FC236}">
                <a16:creationId xmlns:a16="http://schemas.microsoft.com/office/drawing/2014/main" id="{01E70B73-4FF3-CB83-C0D5-55EB43019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805" y="2382495"/>
            <a:ext cx="3978860" cy="397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2247C24-1662-FDD9-D679-F40F23C76A48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2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30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60126" y="473100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4800" b="1" dirty="0">
                <a:latin typeface="Trebuchet MS" panose="020B0603020202020204" pitchFamily="34" charset="0"/>
              </a:rPr>
              <a:t>Previous Research Findings</a:t>
            </a:r>
            <a:endParaRPr lang="he-IL" sz="4800" b="1" dirty="0">
              <a:latin typeface="Trebuchet MS" panose="020B0603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380116" y="1822229"/>
            <a:ext cx="8603864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Using both stock prices and sentiment scores improves prediction the most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400" b="1" dirty="0">
              <a:latin typeface="Trebuchet MS" panose="020B0603020202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LSTM (Long Short-Term Memory) outperforms other models in accuracy</a:t>
            </a: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pic>
        <p:nvPicPr>
          <p:cNvPr id="3074" name="Picture 2" descr="Research - Free business and finance icons">
            <a:extLst>
              <a:ext uri="{FF2B5EF4-FFF2-40B4-BE49-F238E27FC236}">
                <a16:creationId xmlns:a16="http://schemas.microsoft.com/office/drawing/2014/main" id="{359BC2E4-2461-FFE7-1062-A72FB7BD4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434" y="2832235"/>
            <a:ext cx="3385685" cy="338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334D2CE-C301-C76A-BE7F-9FA11D5A5931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3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1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49336" y="366367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Our Project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448417" y="1715071"/>
            <a:ext cx="11490265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TrendiQ will predict short-term stock movements</a:t>
            </a:r>
          </a:p>
          <a:p>
            <a:pPr algn="l" rtl="0"/>
            <a:endParaRPr lang="en-US" sz="2400" b="1" dirty="0">
              <a:latin typeface="Trebuchet MS" panose="020B0603020202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It will combine historical prices with sentiment from news &amp; Twitter</a:t>
            </a:r>
          </a:p>
          <a:p>
            <a:pPr algn="l" rtl="0"/>
            <a:endParaRPr lang="en-US" sz="2400" b="1" dirty="0">
              <a:latin typeface="Trebuchet MS" panose="020B0603020202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603020202020204" pitchFamily="34" charset="0"/>
              </a:rPr>
              <a:t>An LSTM model will be used to predict daily Up/Down movement</a:t>
            </a: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0" y="3932526"/>
            <a:ext cx="12192000" cy="2949471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81390ED-EBE2-DC39-91B6-8600F19405D8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4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6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49335" y="402841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Our advantages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558530" y="1613686"/>
            <a:ext cx="7017711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Multi-source inputs</a:t>
            </a:r>
          </a:p>
          <a:p>
            <a:pPr algn="l" defTabSz="914400" rtl="0" eaLnBrk="1" latinLnBrk="0" hangingPunct="1"/>
            <a:endParaRPr lang="en-US" sz="2400" b="1" dirty="0">
              <a:latin typeface="Trebuchet MS" panose="020B0703020202090204" pitchFamily="34" charset="0"/>
            </a:endParaRP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Short-term focus</a:t>
            </a:r>
          </a:p>
          <a:p>
            <a:pPr algn="l" defTabSz="914400" rtl="0" eaLnBrk="1" latinLnBrk="0" hangingPunct="1"/>
            <a:endParaRPr lang="en-US" sz="2400" b="1" dirty="0">
              <a:latin typeface="Trebuchet MS" panose="020B0703020202090204" pitchFamily="34" charset="0"/>
            </a:endParaRP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User-friendly UI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pic>
        <p:nvPicPr>
          <p:cNvPr id="6146" name="Picture 2" descr="Advantage - Free business and finance icons">
            <a:extLst>
              <a:ext uri="{FF2B5EF4-FFF2-40B4-BE49-F238E27FC236}">
                <a16:creationId xmlns:a16="http://schemas.microsoft.com/office/drawing/2014/main" id="{81743689-AC76-2920-CA34-6D3499CED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556" y="2445327"/>
            <a:ext cx="3902364" cy="390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57934F6-A497-86AD-0E0B-2052B69F5C2C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5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53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011CB63B-2A59-16A5-301C-DB755730F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1" y="1145087"/>
            <a:ext cx="10474563" cy="56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4A1302-A8CD-D67A-9DF2-1CB8F87C36C7}"/>
              </a:ext>
            </a:extLst>
          </p:cNvPr>
          <p:cNvSpPr txBox="1"/>
          <p:nvPr/>
        </p:nvSpPr>
        <p:spPr>
          <a:xfrm>
            <a:off x="527034" y="314090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System Architecture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E52CD86-945F-0AED-CD18-C9C52B259EA3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6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7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011CB63B-2A59-16A5-301C-DB755730F5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50" r="59277"/>
          <a:stretch/>
        </p:blipFill>
        <p:spPr bwMode="auto">
          <a:xfrm>
            <a:off x="1152016" y="4869864"/>
            <a:ext cx="3899339" cy="15815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4A1302-A8CD-D67A-9DF2-1CB8F87C36C7}"/>
              </a:ext>
            </a:extLst>
          </p:cNvPr>
          <p:cNvSpPr txBox="1"/>
          <p:nvPr/>
        </p:nvSpPr>
        <p:spPr>
          <a:xfrm>
            <a:off x="415521" y="295065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Data Collection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0356431-B1BA-8D60-E710-9030A30309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77" b="23179"/>
          <a:stretch/>
        </p:blipFill>
        <p:spPr bwMode="auto">
          <a:xfrm>
            <a:off x="1152017" y="1274458"/>
            <a:ext cx="3899338" cy="397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8531C75-4C95-1A0C-4B9D-C1367C83C6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3"/>
          <a:stretch/>
        </p:blipFill>
        <p:spPr bwMode="auto">
          <a:xfrm>
            <a:off x="5051355" y="1274457"/>
            <a:ext cx="5675934" cy="51769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מלבן מעוגל 7">
            <a:extLst>
              <a:ext uri="{FF2B5EF4-FFF2-40B4-BE49-F238E27FC236}">
                <a16:creationId xmlns:a16="http://schemas.microsoft.com/office/drawing/2014/main" id="{B1DDC6E3-9384-74F4-98F3-86C3E1E71D92}"/>
              </a:ext>
            </a:extLst>
          </p:cNvPr>
          <p:cNvSpPr/>
          <p:nvPr/>
        </p:nvSpPr>
        <p:spPr>
          <a:xfrm>
            <a:off x="5313762" y="1332592"/>
            <a:ext cx="5151120" cy="211638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Stock data: last 60 trading days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News &amp; tweets: last 72 hours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Cleaned, filtered and aligned chronologically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Aggregated and padded if needed</a:t>
            </a:r>
            <a:endParaRPr lang="he-IL" b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E924B25-E07F-F972-843F-6710F204A7D2}"/>
              </a:ext>
            </a:extLst>
          </p:cNvPr>
          <p:cNvSpPr txBox="1"/>
          <p:nvPr/>
        </p:nvSpPr>
        <p:spPr>
          <a:xfrm>
            <a:off x="11495355" y="6032386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7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011CB63B-2A59-16A5-301C-DB755730F5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55" b="20235"/>
          <a:stretch/>
        </p:blipFill>
        <p:spPr bwMode="auto">
          <a:xfrm>
            <a:off x="1137149" y="1364288"/>
            <a:ext cx="4054648" cy="41294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4A1302-A8CD-D67A-9DF2-1CB8F87C36C7}"/>
              </a:ext>
            </a:extLst>
          </p:cNvPr>
          <p:cNvSpPr txBox="1"/>
          <p:nvPr/>
        </p:nvSpPr>
        <p:spPr>
          <a:xfrm>
            <a:off x="449321" y="422300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Feature Extraction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7931EA8-4658-3D11-8529-1B01E43682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765"/>
          <a:stretch/>
        </p:blipFill>
        <p:spPr bwMode="auto">
          <a:xfrm>
            <a:off x="1137148" y="5493711"/>
            <a:ext cx="9575273" cy="104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F75629A-726C-8C98-FE3F-96C620EC44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45" b="20235"/>
          <a:stretch/>
        </p:blipFill>
        <p:spPr bwMode="auto">
          <a:xfrm>
            <a:off x="5191796" y="1364288"/>
            <a:ext cx="5520625" cy="41294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מלבן מעוגל 8">
            <a:extLst>
              <a:ext uri="{FF2B5EF4-FFF2-40B4-BE49-F238E27FC236}">
                <a16:creationId xmlns:a16="http://schemas.microsoft.com/office/drawing/2014/main" id="{6D782222-AD01-E9E9-2DC1-24341A20F412}"/>
              </a:ext>
            </a:extLst>
          </p:cNvPr>
          <p:cNvSpPr/>
          <p:nvPr/>
        </p:nvSpPr>
        <p:spPr>
          <a:xfrm>
            <a:off x="389848" y="1439285"/>
            <a:ext cx="4701932" cy="195130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Stock -&gt; Price sequences -&gt; LSTM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News data -&gt; Sentiment scoring -&gt; LSTM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Tweets -&gt; Sentiment scoring -&gt; LSTM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LSTM Output: 3 feature vectors (128 dimensions each)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53DF95AD-EDD6-2C0E-108C-6954BF90B974}"/>
              </a:ext>
            </a:extLst>
          </p:cNvPr>
          <p:cNvSpPr txBox="1"/>
          <p:nvPr/>
        </p:nvSpPr>
        <p:spPr>
          <a:xfrm>
            <a:off x="11480487" y="6122216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8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1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011CB63B-2A59-16A5-301C-DB755730F5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14"/>
          <a:stretch/>
        </p:blipFill>
        <p:spPr bwMode="auto">
          <a:xfrm>
            <a:off x="1174319" y="1358573"/>
            <a:ext cx="9575273" cy="41408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4A1302-A8CD-D67A-9DF2-1CB8F87C36C7}"/>
              </a:ext>
            </a:extLst>
          </p:cNvPr>
          <p:cNvSpPr txBox="1"/>
          <p:nvPr/>
        </p:nvSpPr>
        <p:spPr>
          <a:xfrm>
            <a:off x="493580" y="436753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Fusion, Prediction &amp; Training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2C3E1D7-EDFA-C02E-BB3D-F1826B2601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86"/>
          <a:stretch/>
        </p:blipFill>
        <p:spPr bwMode="auto">
          <a:xfrm>
            <a:off x="1174318" y="5499426"/>
            <a:ext cx="9575273" cy="10361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מלבן מעוגל 6">
            <a:extLst>
              <a:ext uri="{FF2B5EF4-FFF2-40B4-BE49-F238E27FC236}">
                <a16:creationId xmlns:a16="http://schemas.microsoft.com/office/drawing/2014/main" id="{F99DDB7C-EDFF-A288-6B55-9DEB74BC213F}"/>
              </a:ext>
            </a:extLst>
          </p:cNvPr>
          <p:cNvSpPr/>
          <p:nvPr/>
        </p:nvSpPr>
        <p:spPr>
          <a:xfrm>
            <a:off x="5423233" y="1911176"/>
            <a:ext cx="5326357" cy="14798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Combine 3 vectors -&gt; 384-d input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Dense layers: 256 -&gt; 64 -&gt; 32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Final layer: Sigmoid -&gt; returns probability (Up/Down)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Output: Direction + confidence level</a:t>
            </a:r>
          </a:p>
        </p:txBody>
      </p:sp>
      <p:sp>
        <p:nvSpPr>
          <p:cNvPr id="8" name="מלבן מעוגל 7">
            <a:extLst>
              <a:ext uri="{FF2B5EF4-FFF2-40B4-BE49-F238E27FC236}">
                <a16:creationId xmlns:a16="http://schemas.microsoft.com/office/drawing/2014/main" id="{82C629EA-30DC-C941-C77B-96FF288F6055}"/>
              </a:ext>
            </a:extLst>
          </p:cNvPr>
          <p:cNvSpPr/>
          <p:nvPr/>
        </p:nvSpPr>
        <p:spPr>
          <a:xfrm>
            <a:off x="5398189" y="3573201"/>
            <a:ext cx="5351402" cy="14798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defTabSz="914400" rtl="0" eaLnBrk="1" latinLnBrk="0" hangingPunct="1"/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Training: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Loss: Binary Cross-Entropy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Optimizer: Adam (lr=0.001)</a:t>
            </a:r>
          </a:p>
          <a:p>
            <a:pPr marL="285750" indent="-28575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Dropout: 0.2 | Epochs: 50 | Early Stopping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1C2363B-CD51-02CD-BB90-19BEF1C19FC5}"/>
              </a:ext>
            </a:extLst>
          </p:cNvPr>
          <p:cNvSpPr txBox="1"/>
          <p:nvPr/>
        </p:nvSpPr>
        <p:spPr>
          <a:xfrm>
            <a:off x="11517658" y="6116501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9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59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37824" y="316983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Excepted Outcomes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437824" y="1425831"/>
            <a:ext cx="7017711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Higher accuracy</a:t>
            </a:r>
          </a:p>
          <a:p>
            <a:pPr algn="l" defTabSz="914400" rtl="0" eaLnBrk="1" latinLnBrk="0" hangingPunct="1"/>
            <a:endParaRPr lang="en-US" sz="2400" b="1" dirty="0">
              <a:latin typeface="Trebuchet MS" panose="020B0703020202090204" pitchFamily="34" charset="0"/>
            </a:endParaRP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Sentiment boosts performance</a:t>
            </a:r>
          </a:p>
          <a:p>
            <a:pPr algn="l" defTabSz="914400" rtl="0" eaLnBrk="1" latinLnBrk="0" hangingPunct="1"/>
            <a:endParaRPr lang="en-US" sz="2400" b="1" dirty="0">
              <a:latin typeface="Trebuchet MS" panose="020B0703020202090204" pitchFamily="34" charset="0"/>
            </a:endParaRP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Short-term forecasting window</a:t>
            </a:r>
          </a:p>
          <a:p>
            <a:pPr algn="l" defTabSz="914400" rtl="0" eaLnBrk="1" latinLnBrk="0" hangingPunct="1"/>
            <a:endParaRPr lang="en-US" sz="2400" b="1" dirty="0">
              <a:latin typeface="Trebuchet MS" panose="020B0703020202090204" pitchFamily="34" charset="0"/>
            </a:endParaRP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Functional tool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pic>
        <p:nvPicPr>
          <p:cNvPr id="13314" name="Picture 2" descr="Investment - Free business and finance icons">
            <a:extLst>
              <a:ext uri="{FF2B5EF4-FFF2-40B4-BE49-F238E27FC236}">
                <a16:creationId xmlns:a16="http://schemas.microsoft.com/office/drawing/2014/main" id="{813300D5-88FF-8370-1CE8-09967485D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921" y="2328519"/>
            <a:ext cx="3708744" cy="370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0DA563B-AF88-FB14-AA36-4AC2587BBDE9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10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83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04512" y="419101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Model Evaluation &amp; Validation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3CE28FC-4A4B-D554-A044-D64DD41ACFA1}"/>
              </a:ext>
            </a:extLst>
          </p:cNvPr>
          <p:cNvSpPr txBox="1"/>
          <p:nvPr/>
        </p:nvSpPr>
        <p:spPr>
          <a:xfrm>
            <a:off x="892099" y="1831587"/>
            <a:ext cx="474298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Confusion Matrix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Compares model predictions with real outcomes.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3938099-E0BD-3A54-D16A-981E1AA04A55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11</a:t>
            </a:r>
            <a:endParaRPr lang="he-IL" b="1" dirty="0">
              <a:latin typeface="Trebuchet MS" panose="020B0703020202090204" pitchFamily="34" charset="0"/>
            </a:endParaRPr>
          </a:p>
        </p:txBody>
      </p:sp>
      <p:sp>
        <p:nvSpPr>
          <p:cNvPr id="11" name="תיבת טקסט 1">
            <a:extLst>
              <a:ext uri="{FF2B5EF4-FFF2-40B4-BE49-F238E27FC236}">
                <a16:creationId xmlns:a16="http://schemas.microsoft.com/office/drawing/2014/main" id="{15D137E0-3AF2-4EF9-9E98-7EB07E20E6D0}"/>
              </a:ext>
            </a:extLst>
          </p:cNvPr>
          <p:cNvSpPr txBox="1"/>
          <p:nvPr/>
        </p:nvSpPr>
        <p:spPr>
          <a:xfrm>
            <a:off x="892099" y="3429000"/>
            <a:ext cx="474298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Accuracy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Percentage of total predictions that were correct.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sp>
        <p:nvSpPr>
          <p:cNvPr id="12" name="תיבת טקסט 1">
            <a:extLst>
              <a:ext uri="{FF2B5EF4-FFF2-40B4-BE49-F238E27FC236}">
                <a16:creationId xmlns:a16="http://schemas.microsoft.com/office/drawing/2014/main" id="{76A15BDB-0DCB-4A21-B097-7E5CD487C830}"/>
              </a:ext>
            </a:extLst>
          </p:cNvPr>
          <p:cNvSpPr txBox="1"/>
          <p:nvPr/>
        </p:nvSpPr>
        <p:spPr>
          <a:xfrm>
            <a:off x="1046356" y="5041924"/>
            <a:ext cx="443446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Precision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How many predicted positives were actually correct.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sp>
        <p:nvSpPr>
          <p:cNvPr id="14" name="תיבת טקסט 1">
            <a:extLst>
              <a:ext uri="{FF2B5EF4-FFF2-40B4-BE49-F238E27FC236}">
                <a16:creationId xmlns:a16="http://schemas.microsoft.com/office/drawing/2014/main" id="{1F338CA4-4DC1-4469-A4B2-72DD68CF4E88}"/>
              </a:ext>
            </a:extLst>
          </p:cNvPr>
          <p:cNvSpPr txBox="1"/>
          <p:nvPr/>
        </p:nvSpPr>
        <p:spPr>
          <a:xfrm>
            <a:off x="6868498" y="1831587"/>
            <a:ext cx="443883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Recall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How many actual positives the model managed to catch.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sp>
        <p:nvSpPr>
          <p:cNvPr id="15" name="תיבת טקסט 1">
            <a:extLst>
              <a:ext uri="{FF2B5EF4-FFF2-40B4-BE49-F238E27FC236}">
                <a16:creationId xmlns:a16="http://schemas.microsoft.com/office/drawing/2014/main" id="{E2AB44DB-0714-4FD6-A6E0-D824FF05EC23}"/>
              </a:ext>
            </a:extLst>
          </p:cNvPr>
          <p:cNvSpPr txBox="1"/>
          <p:nvPr/>
        </p:nvSpPr>
        <p:spPr>
          <a:xfrm>
            <a:off x="7013467" y="3428999"/>
            <a:ext cx="397791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F1 Score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Balance between precision and recall.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sp>
        <p:nvSpPr>
          <p:cNvPr id="16" name="תיבת טקסט 1">
            <a:extLst>
              <a:ext uri="{FF2B5EF4-FFF2-40B4-BE49-F238E27FC236}">
                <a16:creationId xmlns:a16="http://schemas.microsoft.com/office/drawing/2014/main" id="{55923922-FFDD-41C3-9F49-6BB43FC291D9}"/>
              </a:ext>
            </a:extLst>
          </p:cNvPr>
          <p:cNvSpPr txBox="1"/>
          <p:nvPr/>
        </p:nvSpPr>
        <p:spPr>
          <a:xfrm>
            <a:off x="6621637" y="5020193"/>
            <a:ext cx="476157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>
                <a:latin typeface="Trebuchet MS" panose="020B0603020202020204" pitchFamily="34" charset="0"/>
              </a:rPr>
              <a:t>ROC-AUC</a:t>
            </a:r>
          </a:p>
          <a:p>
            <a:pPr algn="ctr" rtl="0"/>
            <a:r>
              <a:rPr lang="en-US" sz="2400" dirty="0">
                <a:latin typeface="Trebuchet MS" panose="020B0603020202020204" pitchFamily="34" charset="0"/>
              </a:rPr>
              <a:t>How well the model separates between classes (up vs. down).</a:t>
            </a:r>
            <a:endParaRPr lang="he-IL" sz="2400" b="1" dirty="0">
              <a:latin typeface="Trebuchet MS" panose="020B0603020202020204" pitchFamily="34" charset="0"/>
            </a:endParaRPr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8B726318-85E4-4234-A49B-0BD5909CC251}"/>
              </a:ext>
            </a:extLst>
          </p:cNvPr>
          <p:cNvCxnSpPr/>
          <p:nvPr/>
        </p:nvCxnSpPr>
        <p:spPr>
          <a:xfrm>
            <a:off x="7950820" y="3302181"/>
            <a:ext cx="2062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1B0FAE1F-EA03-47FC-A41F-EF6FBCB3D219}"/>
              </a:ext>
            </a:extLst>
          </p:cNvPr>
          <p:cNvCxnSpPr/>
          <p:nvPr/>
        </p:nvCxnSpPr>
        <p:spPr>
          <a:xfrm>
            <a:off x="7970936" y="4824760"/>
            <a:ext cx="2062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3F0BAFA2-B1D9-4B62-9CB3-C7CE6FDF7B14}"/>
              </a:ext>
            </a:extLst>
          </p:cNvPr>
          <p:cNvCxnSpPr/>
          <p:nvPr/>
        </p:nvCxnSpPr>
        <p:spPr>
          <a:xfrm>
            <a:off x="2126166" y="3280422"/>
            <a:ext cx="2062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BB9B9C04-A37C-4469-AD56-D4BAAF681DDB}"/>
              </a:ext>
            </a:extLst>
          </p:cNvPr>
          <p:cNvCxnSpPr/>
          <p:nvPr/>
        </p:nvCxnSpPr>
        <p:spPr>
          <a:xfrm>
            <a:off x="2126165" y="4913321"/>
            <a:ext cx="2062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22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49335" y="491984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Excepted Challenges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549335" y="1490008"/>
            <a:ext cx="7531675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Temporal misalignment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Noisy text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Overfitting risk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Generalization issues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Limited labeled data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pic>
        <p:nvPicPr>
          <p:cNvPr id="10" name="תמונה 9" descr="תמונה שמכילה לבוש, אדם, סרט מצויר, אומנות&#10;&#10;התיאור נוצר באופן אוטומטי">
            <a:extLst>
              <a:ext uri="{FF2B5EF4-FFF2-40B4-BE49-F238E27FC236}">
                <a16:creationId xmlns:a16="http://schemas.microsoft.com/office/drawing/2014/main" id="{9827DF86-295C-6D12-B9DE-3D9B103D07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998" r="24643"/>
          <a:stretch/>
        </p:blipFill>
        <p:spPr>
          <a:xfrm>
            <a:off x="7795262" y="2124924"/>
            <a:ext cx="4404609" cy="3453088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E5DCBA0-3B9B-5360-572B-86FA408D8614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12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9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49335" y="505709"/>
            <a:ext cx="89271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Verification &amp; Testing Strategy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549335" y="1586030"/>
            <a:ext cx="7017711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Full pipeline run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Missing data handling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Contradictory sentiment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Outliers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Non-English tweets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pic>
        <p:nvPicPr>
          <p:cNvPr id="13" name="תמונה 12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54D888A4-32C1-D280-CA4F-06C9541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68"/>
          <a:stretch/>
        </p:blipFill>
        <p:spPr>
          <a:xfrm>
            <a:off x="0" y="3932526"/>
            <a:ext cx="7245927" cy="2949471"/>
          </a:xfrm>
          <a:prstGeom prst="rect">
            <a:avLst/>
          </a:prstGeom>
        </p:spPr>
      </p:pic>
      <p:pic>
        <p:nvPicPr>
          <p:cNvPr id="17410" name="Picture 2" descr="Testing - Free computer icons">
            <a:extLst>
              <a:ext uri="{FF2B5EF4-FFF2-40B4-BE49-F238E27FC236}">
                <a16:creationId xmlns:a16="http://schemas.microsoft.com/office/drawing/2014/main" id="{C52FD08D-5D46-06FD-A3F3-B54FD089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262" y="2263226"/>
            <a:ext cx="3950555" cy="395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B30569A-1675-2D28-9D19-FFF50AB2AEC8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13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4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37824" y="551159"/>
            <a:ext cx="1060920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Development Stack &amp; Technologies</a:t>
            </a:r>
            <a:endParaRPr lang="he-IL" sz="4800" b="1" dirty="0">
              <a:latin typeface="Trebuchet MS" panose="020B070302020209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9537C5-07B4-9018-DB9D-865A40772E57}"/>
              </a:ext>
            </a:extLst>
          </p:cNvPr>
          <p:cNvSpPr txBox="1"/>
          <p:nvPr/>
        </p:nvSpPr>
        <p:spPr>
          <a:xfrm>
            <a:off x="538184" y="1624202"/>
            <a:ext cx="7017711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Python 3.10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Pytorch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HiggingFace Transformers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yfinance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SpaCy / NLTK</a:t>
            </a:r>
          </a:p>
          <a:p>
            <a:pPr marL="342900" indent="-342900" algn="l" defTabSz="914400" rtl="0" eaLnBrk="1" latinLnBrk="0" hangingPunct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rebuchet MS" panose="020B0703020202090204" pitchFamily="34" charset="0"/>
              </a:rPr>
              <a:t>Apache Spark</a:t>
            </a:r>
            <a:endParaRPr lang="he-IL" sz="2400" b="1" dirty="0">
              <a:latin typeface="Trebuchet MS" panose="020B0703020202090204" pitchFamily="34" charset="0"/>
            </a:endParaRPr>
          </a:p>
        </p:txBody>
      </p:sp>
      <p:pic>
        <p:nvPicPr>
          <p:cNvPr id="2" name="תמונה 1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F4AD66A8-8D69-E5FE-16EE-48147C072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0" y="3932526"/>
            <a:ext cx="12192000" cy="294947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5E3ACD5-6EA1-C60F-B677-1A230AF5126F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14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66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מלבן 51">
            <a:extLst>
              <a:ext uri="{FF2B5EF4-FFF2-40B4-BE49-F238E27FC236}">
                <a16:creationId xmlns:a16="http://schemas.microsoft.com/office/drawing/2014/main" id="{97C0CB23-D653-9562-9DB7-37FEA8364170}"/>
              </a:ext>
            </a:extLst>
          </p:cNvPr>
          <p:cNvSpPr/>
          <p:nvPr/>
        </p:nvSpPr>
        <p:spPr>
          <a:xfrm>
            <a:off x="34725" y="3865942"/>
            <a:ext cx="12132000" cy="25348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473264" y="252503"/>
            <a:ext cx="10609202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Use Case Diagram</a:t>
            </a:r>
          </a:p>
          <a:p>
            <a:pPr marL="0" algn="l" defTabSz="914400" rtl="0" eaLnBrk="1" latinLnBrk="0" hangingPunct="1"/>
            <a:r>
              <a:rPr lang="en-US" sz="4000" b="1" dirty="0">
                <a:latin typeface="Trebuchet MS" panose="020B0703020202090204" pitchFamily="34" charset="0"/>
              </a:rPr>
              <a:t>User Interaction With Prediction Dashboard</a:t>
            </a:r>
            <a:endParaRPr lang="he-IL" sz="4000" b="1" dirty="0">
              <a:latin typeface="Trebuchet MS" panose="020B0703020202090204" pitchFamily="34" charset="0"/>
            </a:endParaRPr>
          </a:p>
        </p:txBody>
      </p:sp>
      <p:pic>
        <p:nvPicPr>
          <p:cNvPr id="11" name="תמונה 10" descr="תמונה שמכילה אומנות קליפיפם, לבוש, סרט מצויר, איור&#10;&#10;התיאור נוצר באופן אוטומטי">
            <a:extLst>
              <a:ext uri="{FF2B5EF4-FFF2-40B4-BE49-F238E27FC236}">
                <a16:creationId xmlns:a16="http://schemas.microsoft.com/office/drawing/2014/main" id="{9EB22E19-3D82-4176-1B66-9E7405DF2F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57" t="4313" r="16884" b="4454"/>
          <a:stretch/>
        </p:blipFill>
        <p:spPr>
          <a:xfrm>
            <a:off x="5693391" y="2389226"/>
            <a:ext cx="805218" cy="939896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2C40DFF-CBB9-EEF9-464B-2537199AA3DF}"/>
              </a:ext>
            </a:extLst>
          </p:cNvPr>
          <p:cNvSpPr txBox="1"/>
          <p:nvPr/>
        </p:nvSpPr>
        <p:spPr>
          <a:xfrm>
            <a:off x="5833110" y="3267570"/>
            <a:ext cx="52578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200" b="1" dirty="0"/>
              <a:t>User</a:t>
            </a:r>
            <a:endParaRPr lang="he-IL" sz="1200" b="1" dirty="0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EE9954E7-6148-1A01-1AE7-C6A2D93BE31D}"/>
              </a:ext>
            </a:extLst>
          </p:cNvPr>
          <p:cNvSpPr/>
          <p:nvPr/>
        </p:nvSpPr>
        <p:spPr>
          <a:xfrm>
            <a:off x="5153025" y="4035849"/>
            <a:ext cx="1885950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View System Status and Data Updates</a:t>
            </a:r>
            <a:endParaRPr lang="he-IL" sz="1100" b="1" dirty="0">
              <a:solidFill>
                <a:schemeClr val="tx1"/>
              </a:solidFill>
            </a:endParaRP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3FE1FB54-E5EB-0AA6-CD9B-D1311E0B20A0}"/>
              </a:ext>
            </a:extLst>
          </p:cNvPr>
          <p:cNvSpPr/>
          <p:nvPr/>
        </p:nvSpPr>
        <p:spPr>
          <a:xfrm>
            <a:off x="7848600" y="4035849"/>
            <a:ext cx="1885950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View Dashboard</a:t>
            </a:r>
            <a:endParaRPr lang="he-IL" sz="1100" b="1" dirty="0">
              <a:solidFill>
                <a:schemeClr val="tx1"/>
              </a:solidFill>
            </a:endParaRPr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DD7B25AB-C67C-4FB4-03A0-C4161B092FF6}"/>
              </a:ext>
            </a:extLst>
          </p:cNvPr>
          <p:cNvSpPr/>
          <p:nvPr/>
        </p:nvSpPr>
        <p:spPr>
          <a:xfrm>
            <a:off x="2457450" y="4035849"/>
            <a:ext cx="1885950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View Stock Prediction Details</a:t>
            </a:r>
            <a:endParaRPr lang="he-IL" sz="1100" b="1" dirty="0">
              <a:solidFill>
                <a:schemeClr val="tx1"/>
              </a:solidFill>
            </a:endParaRPr>
          </a:p>
        </p:txBody>
      </p: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8BE415B6-2E9B-D9B4-E81B-76B18C9D9C4C}"/>
              </a:ext>
            </a:extLst>
          </p:cNvPr>
          <p:cNvCxnSpPr>
            <a:cxnSpLocks/>
            <a:stCxn id="12" idx="3"/>
            <a:endCxn id="16" idx="0"/>
          </p:cNvCxnSpPr>
          <p:nvPr/>
        </p:nvCxnSpPr>
        <p:spPr>
          <a:xfrm>
            <a:off x="6358890" y="3406070"/>
            <a:ext cx="2432685" cy="6297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7528FECD-F424-3162-0814-6DF0DF48C8C6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6096000" y="3544569"/>
            <a:ext cx="0" cy="491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F8FAC3C2-4885-29A0-44AC-04DA732E9ED8}"/>
              </a:ext>
            </a:extLst>
          </p:cNvPr>
          <p:cNvCxnSpPr>
            <a:cxnSpLocks/>
            <a:stCxn id="12" idx="1"/>
            <a:endCxn id="17" idx="0"/>
          </p:cNvCxnSpPr>
          <p:nvPr/>
        </p:nvCxnSpPr>
        <p:spPr>
          <a:xfrm flipH="1">
            <a:off x="3400425" y="3406070"/>
            <a:ext cx="2432685" cy="6297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A94F32C7-21C2-04AD-0AA0-2BCE01E220DF}"/>
              </a:ext>
            </a:extLst>
          </p:cNvPr>
          <p:cNvSpPr/>
          <p:nvPr/>
        </p:nvSpPr>
        <p:spPr>
          <a:xfrm>
            <a:off x="7848600" y="5514706"/>
            <a:ext cx="1885950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Receive Significant Forecast Alerts</a:t>
            </a:r>
            <a:endParaRPr lang="he-IL" sz="1100" b="1" dirty="0">
              <a:solidFill>
                <a:schemeClr val="tx1"/>
              </a:solidFill>
            </a:endParaRPr>
          </a:p>
        </p:txBody>
      </p:sp>
      <p:cxnSp>
        <p:nvCxnSpPr>
          <p:cNvPr id="30" name="מחבר חץ ישר 29">
            <a:extLst>
              <a:ext uri="{FF2B5EF4-FFF2-40B4-BE49-F238E27FC236}">
                <a16:creationId xmlns:a16="http://schemas.microsoft.com/office/drawing/2014/main" id="{DC4BB8E4-E68F-578E-88C0-A0110741D856}"/>
              </a:ext>
            </a:extLst>
          </p:cNvPr>
          <p:cNvCxnSpPr>
            <a:stCxn id="16" idx="4"/>
            <a:endCxn id="28" idx="0"/>
          </p:cNvCxnSpPr>
          <p:nvPr/>
        </p:nvCxnSpPr>
        <p:spPr>
          <a:xfrm>
            <a:off x="8791575" y="4618989"/>
            <a:ext cx="0" cy="895717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D9A45021-0BD6-623A-FF07-2F28F4F4A9D4}"/>
              </a:ext>
            </a:extLst>
          </p:cNvPr>
          <p:cNvSpPr txBox="1"/>
          <p:nvPr/>
        </p:nvSpPr>
        <p:spPr>
          <a:xfrm>
            <a:off x="8374379" y="4912726"/>
            <a:ext cx="86677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000" dirty="0"/>
              <a:t>&lt;&lt;Include&gt;&gt;</a:t>
            </a:r>
            <a:endParaRPr lang="he-IL" sz="1000" dirty="0"/>
          </a:p>
        </p:txBody>
      </p:sp>
      <p:sp>
        <p:nvSpPr>
          <p:cNvPr id="32" name="אליפסה 31">
            <a:extLst>
              <a:ext uri="{FF2B5EF4-FFF2-40B4-BE49-F238E27FC236}">
                <a16:creationId xmlns:a16="http://schemas.microsoft.com/office/drawing/2014/main" id="{0C0564B0-5B9F-7157-4F13-41934C908AAC}"/>
              </a:ext>
            </a:extLst>
          </p:cNvPr>
          <p:cNvSpPr/>
          <p:nvPr/>
        </p:nvSpPr>
        <p:spPr>
          <a:xfrm>
            <a:off x="10863262" y="4035849"/>
            <a:ext cx="1247775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Filter and Sort Stocks</a:t>
            </a:r>
            <a:endParaRPr lang="he-IL" sz="1100" b="1" dirty="0">
              <a:solidFill>
                <a:schemeClr val="tx1"/>
              </a:solidFill>
            </a:endParaRPr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12344D99-3683-8139-A6D4-BC37E9B708A3}"/>
              </a:ext>
            </a:extLst>
          </p:cNvPr>
          <p:cNvSpPr/>
          <p:nvPr/>
        </p:nvSpPr>
        <p:spPr>
          <a:xfrm>
            <a:off x="10863262" y="5223136"/>
            <a:ext cx="1247775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Search for Stock</a:t>
            </a:r>
            <a:endParaRPr lang="he-IL" sz="1100" b="1" dirty="0">
              <a:solidFill>
                <a:schemeClr val="tx1"/>
              </a:solidFill>
            </a:endParaRPr>
          </a:p>
        </p:txBody>
      </p:sp>
      <p:cxnSp>
        <p:nvCxnSpPr>
          <p:cNvPr id="34" name="מחבר חץ ישר 33">
            <a:extLst>
              <a:ext uri="{FF2B5EF4-FFF2-40B4-BE49-F238E27FC236}">
                <a16:creationId xmlns:a16="http://schemas.microsoft.com/office/drawing/2014/main" id="{92DE3150-43CC-48BC-BB74-03C21D4ADAFA}"/>
              </a:ext>
            </a:extLst>
          </p:cNvPr>
          <p:cNvCxnSpPr>
            <a:cxnSpLocks/>
            <a:stCxn id="32" idx="2"/>
            <a:endCxn id="16" idx="6"/>
          </p:cNvCxnSpPr>
          <p:nvPr/>
        </p:nvCxnSpPr>
        <p:spPr>
          <a:xfrm flipH="1">
            <a:off x="9734550" y="4327419"/>
            <a:ext cx="1128712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D9792C2A-0AF6-75FC-9A04-FE1FFED2A428}"/>
              </a:ext>
            </a:extLst>
          </p:cNvPr>
          <p:cNvSpPr txBox="1"/>
          <p:nvPr/>
        </p:nvSpPr>
        <p:spPr>
          <a:xfrm>
            <a:off x="9906855" y="4104058"/>
            <a:ext cx="866775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000" dirty="0"/>
              <a:t>&lt;&lt;Extend&gt;&gt;</a:t>
            </a:r>
            <a:endParaRPr lang="he-IL" sz="1000" dirty="0"/>
          </a:p>
        </p:txBody>
      </p:sp>
      <p:cxnSp>
        <p:nvCxnSpPr>
          <p:cNvPr id="38" name="מחבר חץ ישר 37">
            <a:extLst>
              <a:ext uri="{FF2B5EF4-FFF2-40B4-BE49-F238E27FC236}">
                <a16:creationId xmlns:a16="http://schemas.microsoft.com/office/drawing/2014/main" id="{699580C5-02DE-C08A-3279-71FEC240B62E}"/>
              </a:ext>
            </a:extLst>
          </p:cNvPr>
          <p:cNvCxnSpPr>
            <a:cxnSpLocks/>
            <a:stCxn id="33" idx="2"/>
          </p:cNvCxnSpPr>
          <p:nvPr/>
        </p:nvCxnSpPr>
        <p:spPr>
          <a:xfrm flipH="1" flipV="1">
            <a:off x="9624060" y="4479819"/>
            <a:ext cx="1239202" cy="1034887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6A566525-3A7D-036E-B60D-6F62C1634ACA}"/>
              </a:ext>
            </a:extLst>
          </p:cNvPr>
          <p:cNvSpPr txBox="1"/>
          <p:nvPr/>
        </p:nvSpPr>
        <p:spPr>
          <a:xfrm rot="2380610">
            <a:off x="9889672" y="4820096"/>
            <a:ext cx="866775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000" dirty="0"/>
              <a:t>&lt;&lt;Extend&gt;&gt;</a:t>
            </a:r>
            <a:endParaRPr lang="he-IL" sz="1000" dirty="0"/>
          </a:p>
        </p:txBody>
      </p:sp>
      <p:sp>
        <p:nvSpPr>
          <p:cNvPr id="42" name="אליפסה 41">
            <a:extLst>
              <a:ext uri="{FF2B5EF4-FFF2-40B4-BE49-F238E27FC236}">
                <a16:creationId xmlns:a16="http://schemas.microsoft.com/office/drawing/2014/main" id="{8F65DDB9-C1F9-34F6-C1F8-CC4FCE62B6B2}"/>
              </a:ext>
            </a:extLst>
          </p:cNvPr>
          <p:cNvSpPr/>
          <p:nvPr/>
        </p:nvSpPr>
        <p:spPr>
          <a:xfrm>
            <a:off x="2457450" y="5514706"/>
            <a:ext cx="1885950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View Forecast Charts and Tables</a:t>
            </a:r>
            <a:endParaRPr lang="he-IL" sz="1100" b="1" dirty="0">
              <a:solidFill>
                <a:schemeClr val="tx1"/>
              </a:solidFill>
            </a:endParaRPr>
          </a:p>
        </p:txBody>
      </p:sp>
      <p:cxnSp>
        <p:nvCxnSpPr>
          <p:cNvPr id="43" name="מחבר חץ ישר 42">
            <a:extLst>
              <a:ext uri="{FF2B5EF4-FFF2-40B4-BE49-F238E27FC236}">
                <a16:creationId xmlns:a16="http://schemas.microsoft.com/office/drawing/2014/main" id="{98F03357-9384-BAE6-1388-ECDE97F504B9}"/>
              </a:ext>
            </a:extLst>
          </p:cNvPr>
          <p:cNvCxnSpPr>
            <a:endCxn id="42" idx="0"/>
          </p:cNvCxnSpPr>
          <p:nvPr/>
        </p:nvCxnSpPr>
        <p:spPr>
          <a:xfrm>
            <a:off x="3400425" y="4618989"/>
            <a:ext cx="0" cy="895717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C109D1DA-7C2A-F5D4-5559-E9CA92B50B04}"/>
              </a:ext>
            </a:extLst>
          </p:cNvPr>
          <p:cNvSpPr txBox="1"/>
          <p:nvPr/>
        </p:nvSpPr>
        <p:spPr>
          <a:xfrm>
            <a:off x="2983229" y="4912726"/>
            <a:ext cx="86677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000" dirty="0"/>
              <a:t>&lt;&lt;Include&gt;&gt;</a:t>
            </a:r>
            <a:endParaRPr lang="he-IL" sz="1000" dirty="0"/>
          </a:p>
        </p:txBody>
      </p:sp>
      <p:sp>
        <p:nvSpPr>
          <p:cNvPr id="45" name="אליפסה 44">
            <a:extLst>
              <a:ext uri="{FF2B5EF4-FFF2-40B4-BE49-F238E27FC236}">
                <a16:creationId xmlns:a16="http://schemas.microsoft.com/office/drawing/2014/main" id="{62181017-B5C8-54AE-9E83-4696B7E85E56}"/>
              </a:ext>
            </a:extLst>
          </p:cNvPr>
          <p:cNvSpPr/>
          <p:nvPr/>
        </p:nvSpPr>
        <p:spPr>
          <a:xfrm>
            <a:off x="89487" y="4029510"/>
            <a:ext cx="1247775" cy="5831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r>
              <a:rPr lang="en-US" sz="1100" b="1" dirty="0">
                <a:solidFill>
                  <a:schemeClr val="tx1"/>
                </a:solidFill>
              </a:rPr>
              <a:t>Export Prediction Reports</a:t>
            </a:r>
            <a:endParaRPr lang="he-IL" sz="1100" b="1" dirty="0">
              <a:solidFill>
                <a:schemeClr val="tx1"/>
              </a:solidFill>
            </a:endParaRPr>
          </a:p>
        </p:txBody>
      </p:sp>
      <p:cxnSp>
        <p:nvCxnSpPr>
          <p:cNvPr id="46" name="מחבר חץ ישר 45">
            <a:extLst>
              <a:ext uri="{FF2B5EF4-FFF2-40B4-BE49-F238E27FC236}">
                <a16:creationId xmlns:a16="http://schemas.microsoft.com/office/drawing/2014/main" id="{3848D463-A5AB-67DE-8532-77A6094C0B5D}"/>
              </a:ext>
            </a:extLst>
          </p:cNvPr>
          <p:cNvCxnSpPr>
            <a:cxnSpLocks/>
            <a:stCxn id="45" idx="6"/>
            <a:endCxn id="17" idx="2"/>
          </p:cNvCxnSpPr>
          <p:nvPr/>
        </p:nvCxnSpPr>
        <p:spPr>
          <a:xfrm>
            <a:off x="1337262" y="4321080"/>
            <a:ext cx="1120188" cy="6339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תיבת טקסט 46">
            <a:extLst>
              <a:ext uri="{FF2B5EF4-FFF2-40B4-BE49-F238E27FC236}">
                <a16:creationId xmlns:a16="http://schemas.microsoft.com/office/drawing/2014/main" id="{3583353D-2318-9EA8-8FE2-1E5E59B0E671}"/>
              </a:ext>
            </a:extLst>
          </p:cNvPr>
          <p:cNvSpPr txBox="1"/>
          <p:nvPr/>
        </p:nvSpPr>
        <p:spPr>
          <a:xfrm>
            <a:off x="1468230" y="4104057"/>
            <a:ext cx="866775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000" dirty="0"/>
              <a:t>&lt;&lt;Extend&gt;&gt;</a:t>
            </a:r>
            <a:endParaRPr lang="he-IL" sz="1000" dirty="0"/>
          </a:p>
        </p:txBody>
      </p:sp>
      <p:sp>
        <p:nvSpPr>
          <p:cNvPr id="53" name="תיבת טקסט 52">
            <a:extLst>
              <a:ext uri="{FF2B5EF4-FFF2-40B4-BE49-F238E27FC236}">
                <a16:creationId xmlns:a16="http://schemas.microsoft.com/office/drawing/2014/main" id="{920082E2-76F8-3A48-9626-52C067492C41}"/>
              </a:ext>
            </a:extLst>
          </p:cNvPr>
          <p:cNvSpPr txBox="1"/>
          <p:nvPr/>
        </p:nvSpPr>
        <p:spPr>
          <a:xfrm>
            <a:off x="5777865" y="6097846"/>
            <a:ext cx="636269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200" b="1" dirty="0"/>
              <a:t>System</a:t>
            </a:r>
            <a:endParaRPr lang="he-IL" sz="1200" b="1" dirty="0"/>
          </a:p>
        </p:txBody>
      </p:sp>
      <p:sp>
        <p:nvSpPr>
          <p:cNvPr id="55" name="תיבת טקסט 54">
            <a:extLst>
              <a:ext uri="{FF2B5EF4-FFF2-40B4-BE49-F238E27FC236}">
                <a16:creationId xmlns:a16="http://schemas.microsoft.com/office/drawing/2014/main" id="{BAC2AB41-3A7B-F7D0-2804-CE770727DA91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15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47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38185" y="325302"/>
            <a:ext cx="1060920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User Interface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8777DDDE-F8F7-4CDD-BA61-ED885C9C07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972" y="1386633"/>
            <a:ext cx="9368056" cy="50025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FD54B98-B8FF-8053-CB16-074D1E1A06A3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16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7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549336" y="280697"/>
            <a:ext cx="1060920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914400" rtl="0" eaLnBrk="1" latinLnBrk="0" hangingPunct="1"/>
            <a:r>
              <a:rPr lang="en-US" sz="4800" b="1" dirty="0">
                <a:latin typeface="Trebuchet MS" panose="020B0703020202090204" pitchFamily="34" charset="0"/>
              </a:rPr>
              <a:t>User Interface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23EA0C9-D2E7-7CE1-A330-68DAD51B6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972" y="1386633"/>
            <a:ext cx="9368056" cy="50025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3C69DAF-2464-8F7B-302B-AC381E056890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17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77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46D99A-C28B-EE91-D010-BD6753E544E4}"/>
              </a:ext>
            </a:extLst>
          </p:cNvPr>
          <p:cNvSpPr txBox="1"/>
          <p:nvPr/>
        </p:nvSpPr>
        <p:spPr>
          <a:xfrm>
            <a:off x="791399" y="1941532"/>
            <a:ext cx="10609202" cy="18620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914400" rtl="0" eaLnBrk="1" latinLnBrk="0" hangingPunct="1"/>
            <a:r>
              <a:rPr lang="en-US" sz="11500" b="1" dirty="0">
                <a:latin typeface="Trebuchet MS" panose="020B0703020202090204" pitchFamily="34" charset="0"/>
              </a:rPr>
              <a:t>Thank You !</a:t>
            </a:r>
          </a:p>
        </p:txBody>
      </p:sp>
      <p:pic>
        <p:nvPicPr>
          <p:cNvPr id="6" name="תמונה 5" descr="תמונה שמכילה ירוק, גרפיקה&#10;&#10;התיאור נוצר באופן אוטומטי">
            <a:extLst>
              <a:ext uri="{FF2B5EF4-FFF2-40B4-BE49-F238E27FC236}">
                <a16:creationId xmlns:a16="http://schemas.microsoft.com/office/drawing/2014/main" id="{352B686F-FFB7-7148-1078-B553982D01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238" b="41475"/>
          <a:stretch/>
        </p:blipFill>
        <p:spPr>
          <a:xfrm>
            <a:off x="8485871" y="6718"/>
            <a:ext cx="3708744" cy="900765"/>
          </a:xfrm>
          <a:prstGeom prst="rect">
            <a:avLst/>
          </a:prstGeom>
        </p:spPr>
      </p:pic>
      <p:pic>
        <p:nvPicPr>
          <p:cNvPr id="2" name="תמונה 1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93A1BB10-2494-0FF9-4D5A-1FE2B86A0D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0" y="3932526"/>
            <a:ext cx="12192000" cy="294947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FF343CD-8B05-6BA4-9BF5-6E340A2E04D6}"/>
              </a:ext>
            </a:extLst>
          </p:cNvPr>
          <p:cNvSpPr txBox="1"/>
          <p:nvPr/>
        </p:nvSpPr>
        <p:spPr>
          <a:xfrm>
            <a:off x="11539960" y="6389225"/>
            <a:ext cx="5671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latin typeface="Trebuchet MS" panose="020B0703020202090204" pitchFamily="34" charset="0"/>
              </a:rPr>
              <a:t>18</a:t>
            </a:r>
            <a:endParaRPr lang="he-IL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62538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1216</Words>
  <Application>Microsoft Office PowerPoint</Application>
  <PresentationFormat>מסך רחב</PresentationFormat>
  <Paragraphs>174</Paragraphs>
  <Slides>18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Trebuchet MS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גיא נאה</dc:creator>
  <cp:lastModifiedBy>שלי טריפונוב</cp:lastModifiedBy>
  <cp:revision>33</cp:revision>
  <dcterms:created xsi:type="dcterms:W3CDTF">2025-07-11T05:19:27Z</dcterms:created>
  <dcterms:modified xsi:type="dcterms:W3CDTF">2025-07-13T19:39:58Z</dcterms:modified>
</cp:coreProperties>
</file>